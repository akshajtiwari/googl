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Top Smart-Match Candidates (Sample Task)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Match %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Riya</c:v>
                </c:pt>
                <c:pt idx="1">
                  <c:v>Anjali</c:v>
                </c:pt>
                <c:pt idx="2">
                  <c:v>Sneha</c:v>
                </c:pt>
                <c:pt idx="3">
                  <c:v>Rohan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92</c:v>
                </c:pt>
                <c:pt idx="1">
                  <c:v>88</c:v>
                </c:pt>
                <c:pt idx="2">
                  <c:v>83</c:v>
                </c:pt>
                <c:pt idx="3">
                  <c:v>78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Task Resolution Trend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Tasks Resolved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  <c:pt idx="6">
                  <c:v>W7</c:v>
                </c:pt>
                <c:pt idx="7">
                  <c:v>W8</c:v>
                </c:pt>
                <c:pt idx="8">
                  <c:v>W9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</c:v>
                </c:pt>
                <c:pt idx="1">
                  <c:v>18</c:v>
                </c:pt>
                <c:pt idx="2">
                  <c:v>14</c:v>
                </c:pt>
                <c:pt idx="3">
                  <c:v>22</c:v>
                </c:pt>
                <c:pt idx="4">
                  <c:v>19</c:v>
                </c:pt>
                <c:pt idx="5">
                  <c:v>25</c:v>
                </c:pt>
                <c:pt idx="6">
                  <c:v>21</c:v>
                </c:pt>
                <c:pt idx="7">
                  <c:v>28</c:v>
                </c:pt>
                <c:pt idx="8">
                  <c:v>24</c:v>
                </c:pt>
                <c:pt idx="9">
                  <c:v>30</c:v>
                </c:pt>
                <c:pt idx="10">
                  <c:v>27</c:v>
                </c:pt>
                <c:pt idx="11">
                  <c:v>35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Needs by Category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Needs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Food</c:v>
                </c:pt>
                <c:pt idx="1">
                  <c:v>Medical</c:v>
                </c:pt>
                <c:pt idx="2">
                  <c:v>Shelter</c:v>
                </c:pt>
                <c:pt idx="3">
                  <c:v>Education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31</c:v>
                </c:pt>
                <c:pt idx="2">
                  <c:v>19</c:v>
                </c:pt>
                <c:pt idx="3">
                  <c:v>14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Volunteer Activity Trend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Active Volunteers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  <c:pt idx="6">
                  <c:v>W7</c:v>
                </c:pt>
                <c:pt idx="7">
                  <c:v>W8</c:v>
                </c:pt>
                <c:pt idx="8">
                  <c:v>W9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20</c:v>
                </c:pt>
                <c:pt idx="1">
                  <c:v>28</c:v>
                </c:pt>
                <c:pt idx="2">
                  <c:v>24</c:v>
                </c:pt>
                <c:pt idx="3">
                  <c:v>32</c:v>
                </c:pt>
                <c:pt idx="4">
                  <c:v>27</c:v>
                </c:pt>
                <c:pt idx="5">
                  <c:v>35</c:v>
                </c:pt>
                <c:pt idx="6">
                  <c:v>30</c:v>
                </c:pt>
                <c:pt idx="7">
                  <c:v>38</c:v>
                </c:pt>
                <c:pt idx="8">
                  <c:v>33</c:v>
                </c:pt>
                <c:pt idx="9">
                  <c:v>42</c:v>
                </c:pt>
                <c:pt idx="10">
                  <c:v>38</c:v>
                </c:pt>
                <c:pt idx="11">
                  <c:v>45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Before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Response Time</c:v>
                </c:pt>
                <c:pt idx="1">
                  <c:v>Coverage</c:v>
                </c:pt>
                <c:pt idx="2">
                  <c:v>Match Accuracy</c:v>
                </c:pt>
                <c:pt idx="3">
                  <c:v>Verification Completion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52</c:v>
                </c:pt>
                <c:pt idx="2">
                  <c:v>61</c:v>
                </c:pt>
                <c:pt idx="3">
                  <c:v>48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Response Time</c:v>
                </c:pt>
                <c:pt idx="1">
                  <c:v>Coverage</c:v>
                </c:pt>
                <c:pt idx="2">
                  <c:v>Match Accuracy</c:v>
                </c:pt>
                <c:pt idx="3">
                  <c:v>Verification Completion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62</c:v>
                </c:pt>
                <c:pt idx="1">
                  <c:v>74</c:v>
                </c:pt>
                <c:pt idx="2">
                  <c:v>86</c:v>
                </c:pt>
                <c:pt idx="3">
                  <c:v>81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"/>
            <a:ext cx="12191695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Solution Challenge 2026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28016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1DEEA"/>
                </a:solidFill>
              </a:rPr>
              <a:t>Upper banner preserved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3A5C"/>
                </a:solidFill>
              </a:defRPr>
            </a:pPr>
            <a:r>
              <a:t>NGO Coordinator Platform</a:t>
            </a:r>
          </a:p>
          <a:p>
            <a:pPr>
              <a:defRPr sz="1300">
                <a:solidFill>
                  <a:srgbClr val="718196"/>
                </a:solidFill>
              </a:defRPr>
            </a:pPr>
            <a:r>
              <a:t>AI-assisted dashboard for needs mapping, assignment, and impact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7498079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D3748"/>
                </a:solidFill>
              </a:defRPr>
            </a:pPr>
            <a:r>
              <a:t>Project source: Flutter admin portal (`googl/`) with dashboard, heatmap, tasks, assignments, and analytics modules.</a:t>
            </a:r>
          </a:p>
          <a:p>
            <a:pPr>
              <a:defRPr sz="1500">
                <a:solidFill>
                  <a:srgbClr val="2D3748"/>
                </a:solidFill>
              </a:defRPr>
            </a:pPr>
            <a:r>
              <a:t>Purpose: reduce response time, increase volunteer-task match quality, and improve zone-level coverage.</a:t>
            </a:r>
          </a:p>
          <a:p>
            <a:pPr>
              <a:defRPr sz="1500">
                <a:solidFill>
                  <a:srgbClr val="2D3748"/>
                </a:solidFill>
              </a:defRPr>
            </a:pPr>
            <a:r>
              <a:t>Focus area demonstrated in this prototype: emergency community support operations in Delhi zones.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1920240"/>
            <a:ext cx="3383280" cy="109728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2029968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B82F6"/>
                </a:solidFill>
              </a:defRPr>
            </a:pPr>
            <a:r>
              <a:t>142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2487168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18196"/>
                </a:solidFill>
              </a:defRPr>
            </a:pPr>
            <a:r>
              <a:t>Total Volunteers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3154680"/>
            <a:ext cx="3383280" cy="109728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3264408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0B981"/>
                </a:solidFill>
              </a:defRPr>
            </a:pPr>
            <a:r>
              <a:t>38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3721608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18196"/>
                </a:solidFill>
              </a:defRPr>
            </a:pPr>
            <a:r>
              <a:t>Active Tasks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4389120"/>
            <a:ext cx="3383280" cy="109728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4498848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6B6D4"/>
                </a:solidFill>
              </a:defRPr>
            </a:pPr>
            <a:r>
              <a:t>74%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4956048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18196"/>
                </a:solidFill>
              </a:defRPr>
            </a:pPr>
            <a:r>
              <a:t>Zone Coverage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"/>
            <a:ext cx="12191695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28016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1DEEA"/>
                </a:solidFill>
              </a:rPr>
              <a:t>Need-response coordination gaps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3A5C"/>
                </a:solidFill>
              </a:defRPr>
            </a:pPr>
            <a:r>
              <a:t>Why Existing Coordination Breaks Under 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5669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A5C"/>
                </a:solidFill>
              </a:defRPr>
            </a:pPr>
            <a:r>
              <a:t>Observed Pain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5669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D3748"/>
                </a:solidFill>
              </a:defRPr>
            </a:pPr>
            <a:r>
              <a:t>Need reports are fragmented across zones and channels.</a:t>
            </a:r>
          </a:p>
          <a:p>
            <a:pPr>
              <a:defRPr sz="1500">
                <a:solidFill>
                  <a:srgbClr val="2D3748"/>
                </a:solidFill>
              </a:defRPr>
            </a:pPr>
            <a:r>
              <a:t>Manual volunteer assignment leads to skill and proximity mismatch.</a:t>
            </a:r>
          </a:p>
          <a:p>
            <a:pPr>
              <a:defRPr sz="1500">
                <a:solidFill>
                  <a:srgbClr val="2D3748"/>
                </a:solidFill>
              </a:defRPr>
            </a:pPr>
            <a:r>
              <a:t>Underserved zones remain unnoticed until escalations happen.</a:t>
            </a:r>
          </a:p>
          <a:p>
            <a:pPr>
              <a:defRPr sz="1500">
                <a:solidFill>
                  <a:srgbClr val="2D3748"/>
                </a:solidFill>
              </a:defRPr>
            </a:pPr>
            <a:r>
              <a:t>Coordinators lack a single place for timeline, status, and verification.</a:t>
            </a:r>
          </a:p>
          <a:p>
            <a:pPr>
              <a:defRPr sz="1500">
                <a:solidFill>
                  <a:srgbClr val="2D3748"/>
                </a:solidFill>
              </a:defRPr>
            </a:pPr>
            <a:r>
              <a:t>Stakeholder reporting is time-consuming without live analytics.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828800"/>
            <a:ext cx="512064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A3A5C"/>
                </a:solidFill>
              </a:defRPr>
            </a:pPr>
            <a:r>
              <a:t>21 pending needs + 38 active tasks -&gt; coordination overhead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834640"/>
            <a:ext cx="512064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A3A5C"/>
                </a:solidFill>
              </a:defRPr>
            </a:pPr>
            <a:r>
              <a:t>Overdue task risk when task ownership is unclear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3840480"/>
            <a:ext cx="512064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A3A5C"/>
                </a:solidFill>
              </a:defRPr>
            </a:pPr>
            <a:r>
              <a:t>Coverage imbalance across wards without heatmap overlays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"/>
            <a:ext cx="12191695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Solution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28016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1DEEA"/>
                </a:solidFill>
              </a:rPr>
              <a:t>Code modules mapped to product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3A5C"/>
                </a:solidFill>
              </a:defRPr>
            </a:pPr>
            <a:r>
              <a:t>Unified Operations Workspace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53949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2E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A3A5C"/>
                </a:solidFill>
              </a:defRPr>
            </a:pPr>
            <a:r>
              <a:t>Dashboard</a:t>
            </a:r>
          </a:p>
          <a:p>
            <a:pPr>
              <a:defRPr sz="1100">
                <a:solidFill>
                  <a:srgbClr val="718196"/>
                </a:solidFill>
              </a:defRPr>
            </a:pPr>
            <a:r>
              <a:t>KPI cards, alerts, activity feed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737360"/>
            <a:ext cx="53949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2E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A3A5C"/>
                </a:solidFill>
              </a:defRPr>
            </a:pPr>
            <a:r>
              <a:t>Heatmap</a:t>
            </a:r>
          </a:p>
          <a:p>
            <a:pPr>
              <a:defRPr sz="1100">
                <a:solidFill>
                  <a:srgbClr val="718196"/>
                </a:solidFill>
              </a:defRPr>
            </a:pPr>
            <a:r>
              <a:t>Need type layers + underserved zones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971800"/>
            <a:ext cx="53949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2E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A3A5C"/>
                </a:solidFill>
              </a:defRPr>
            </a:pPr>
            <a:r>
              <a:t>Tasks</a:t>
            </a:r>
          </a:p>
          <a:p>
            <a:pPr>
              <a:defRPr sz="1100">
                <a:solidFill>
                  <a:srgbClr val="718196"/>
                </a:solidFill>
              </a:defRPr>
            </a:pPr>
            <a:r>
              <a:t>Status lifecycle: Open -&gt; Assigned -&gt; In Progress -&gt; Completed -&gt; Verified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2971800"/>
            <a:ext cx="53949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2E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A3A5C"/>
                </a:solidFill>
              </a:defRPr>
            </a:pPr>
            <a:r>
              <a:t>Assignments</a:t>
            </a:r>
          </a:p>
          <a:p>
            <a:pPr>
              <a:defRPr sz="1100">
                <a:solidFill>
                  <a:srgbClr val="718196"/>
                </a:solidFill>
              </a:defRPr>
            </a:pPr>
            <a:r>
              <a:t>Smart matching + manual override + reassignment logs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206240"/>
            <a:ext cx="53949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2E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A3A5C"/>
                </a:solidFill>
              </a:defRPr>
            </a:pPr>
            <a:r>
              <a:t>Analytics</a:t>
            </a:r>
          </a:p>
          <a:p>
            <a:pPr>
              <a:defRPr sz="1100">
                <a:solidFill>
                  <a:srgbClr val="718196"/>
                </a:solidFill>
              </a:defRPr>
            </a:pPr>
            <a:r>
              <a:t>Trend charts, category split, zone performance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4206240"/>
            <a:ext cx="53949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2E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A3A5C"/>
                </a:solidFill>
              </a:defRPr>
            </a:pPr>
            <a:r>
              <a:t>Volunteers</a:t>
            </a:r>
          </a:p>
          <a:p>
            <a:pPr>
              <a:defRPr sz="1100">
                <a:solidFill>
                  <a:srgbClr val="718196"/>
                </a:solidFill>
              </a:defRPr>
            </a:pPr>
            <a:r>
              <a:t>Directory, availability, profile-level operations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"/>
            <a:ext cx="12191695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28016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1DEEA"/>
                </a:solidFill>
              </a:rPr>
              <a:t>Built from current Flutter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3A5C"/>
                </a:solidFill>
              </a:defRPr>
            </a:pPr>
            <a:r>
              <a:t>End-to-End Data &amp; Decision 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103120"/>
            <a:ext cx="192024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A3A5C"/>
                </a:solidFill>
              </a:defRPr>
            </a:pPr>
            <a:r>
              <a:t>Field Reports</a:t>
            </a:r>
            <a:br/>
            <a:r>
              <a:t>&amp; Coordinator Input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295144" y="2450592"/>
            <a:ext cx="201168" cy="146304"/>
          </a:xfrm>
          <a:prstGeom prst="rightArrow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377440" y="2103120"/>
            <a:ext cx="192024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A3A5C"/>
                </a:solidFill>
              </a:defRPr>
            </a:pPr>
            <a:r>
              <a:t>Needs / Tasks</a:t>
            </a:r>
            <a:br/>
            <a:r>
              <a:t>Data Models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261104" y="2450592"/>
            <a:ext cx="201168" cy="146304"/>
          </a:xfrm>
          <a:prstGeom prst="rightArrow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43400" y="2103120"/>
            <a:ext cx="192024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A3A5C"/>
                </a:solidFill>
              </a:defRPr>
            </a:pPr>
            <a:r>
              <a:t>Smart Match Engine</a:t>
            </a:r>
            <a:br/>
            <a:r>
              <a:t>(skill 60% + proximity 30% + rating 10%)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227064" y="2450592"/>
            <a:ext cx="201168" cy="146304"/>
          </a:xfrm>
          <a:prstGeom prst="rightArrow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59" y="2103120"/>
            <a:ext cx="192024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A3A5C"/>
                </a:solidFill>
              </a:defRPr>
            </a:pPr>
            <a:r>
              <a:t>Assignment Engine</a:t>
            </a:r>
            <a:br/>
            <a:r>
              <a:t>(dialog + timeline)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193023" y="2450592"/>
            <a:ext cx="201168" cy="146304"/>
          </a:xfrm>
          <a:prstGeom prst="rightArrow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75320" y="2103120"/>
            <a:ext cx="192024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A3A5C"/>
                </a:solidFill>
              </a:defRPr>
            </a:pPr>
            <a:r>
              <a:t>Analytics Layer</a:t>
            </a:r>
            <a:br/>
            <a:r>
              <a:t>(charts + zone table)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10158984" y="2450592"/>
            <a:ext cx="201168" cy="146304"/>
          </a:xfrm>
          <a:prstGeom prst="rightArrow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241280" y="2103120"/>
            <a:ext cx="192024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A3A5C"/>
                </a:solidFill>
              </a:defRPr>
            </a:pPr>
            <a:r>
              <a:t>Coordinator Actions</a:t>
            </a:r>
            <a:br/>
            <a:r>
              <a:t>(reassign, verify, escalate)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23360" y="3886200"/>
            <a:ext cx="402336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A3A5C"/>
                </a:solidFill>
              </a:defRPr>
            </a:pPr>
            <a:r>
              <a:t>Feedback Loop: completion + verification updates KPIs and zone coverage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"/>
            <a:ext cx="12191695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Operational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28016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1DEEA"/>
                </a:solidFill>
              </a:rPr>
              <a:t>Coordinator-first interaction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3A5C"/>
                </a:solidFill>
              </a:defRPr>
            </a:pPr>
            <a:r>
              <a:t>From Need Detection to Verified Completion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1298448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A3A5C"/>
                </a:solidFill>
              </a:defRPr>
            </a:pPr>
            <a:r>
              <a:t>Need Reported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773936" y="2084832"/>
            <a:ext cx="182880" cy="128016"/>
          </a:xfrm>
          <a:prstGeom prst="rightArrow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947672" y="2514600"/>
            <a:ext cx="1298448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A3A5C"/>
                </a:solidFill>
              </a:defRPr>
            </a:pPr>
            <a:r>
              <a:t>Need Prioritized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18688" y="2761488"/>
            <a:ext cx="182880" cy="128016"/>
          </a:xfrm>
          <a:prstGeom prst="rightArrow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92424" y="1828800"/>
            <a:ext cx="1298448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A3A5C"/>
                </a:solidFill>
              </a:defRPr>
            </a:pPr>
            <a:r>
              <a:t>Task Created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663440" y="2084832"/>
            <a:ext cx="182880" cy="128016"/>
          </a:xfrm>
          <a:prstGeom prst="rightArrow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837176" y="2514600"/>
            <a:ext cx="1298448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A3A5C"/>
                </a:solidFill>
              </a:defRPr>
            </a:pPr>
            <a:r>
              <a:t>Smart Match Suggested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108192" y="2761488"/>
            <a:ext cx="182880" cy="128016"/>
          </a:xfrm>
          <a:prstGeom prst="rightArrow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81928" y="1828800"/>
            <a:ext cx="1298448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A3A5C"/>
                </a:solidFill>
              </a:defRPr>
            </a:pPr>
            <a:r>
              <a:t>Volunteer Assigned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552944" y="2084832"/>
            <a:ext cx="182880" cy="128016"/>
          </a:xfrm>
          <a:prstGeom prst="rightArrow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26680" y="2514600"/>
            <a:ext cx="1298448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A3A5C"/>
                </a:solidFill>
              </a:defRPr>
            </a:pPr>
            <a:r>
              <a:t>Task Executed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997696" y="2761488"/>
            <a:ext cx="182880" cy="128016"/>
          </a:xfrm>
          <a:prstGeom prst="rightArrow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71432" y="1828800"/>
            <a:ext cx="1298448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A3A5C"/>
                </a:solidFill>
              </a:defRPr>
            </a:pPr>
            <a:r>
              <a:t>Coordinator Verifies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10442448" y="2084832"/>
            <a:ext cx="182880" cy="128016"/>
          </a:xfrm>
          <a:prstGeom prst="rightArrow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616184" y="2514600"/>
            <a:ext cx="1298448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A3A5C"/>
                </a:solidFill>
              </a:defRPr>
            </a:pPr>
            <a:r>
              <a:t>Impact Logged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297680"/>
            <a:ext cx="109728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D3748"/>
                </a:solidFill>
              </a:defRPr>
            </a:pPr>
            <a:r>
              <a:t>Reassignment reasons are stored in timeline logs to improve transparency and accountability.</a:t>
            </a:r>
          </a:p>
          <a:p>
            <a:pPr>
              <a:defRPr sz="1500">
                <a:solidFill>
                  <a:srgbClr val="2D3748"/>
                </a:solidFill>
              </a:defRPr>
            </a:pPr>
            <a:r>
              <a:t>Overdue and unassigned filters help coordinators triage quickly.</a:t>
            </a:r>
          </a:p>
          <a:p>
            <a:pPr>
              <a:defRPr sz="1500">
                <a:solidFill>
                  <a:srgbClr val="2D3748"/>
                </a:solidFill>
              </a:defRPr>
            </a:pPr>
            <a:r>
              <a:t>Verified status closes the loop for downstream reporting and donor communication.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"/>
            <a:ext cx="12191695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Geospatial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28016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1DEEA"/>
                </a:solidFill>
              </a:rPr>
              <a:t>Need type overlays + underserved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3A5C"/>
                </a:solidFill>
              </a:defRPr>
            </a:pPr>
            <a:r>
              <a:t>Heatmap Module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4663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A5C"/>
                </a:solidFill>
              </a:defRPr>
            </a:pPr>
            <a:r>
              <a:t>Implemented Signals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466344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D3748"/>
                </a:solidFill>
              </a:defRPr>
            </a:pPr>
            <a:r>
              <a:t>Need layers: food, medical, shelter, education.</a:t>
            </a:r>
          </a:p>
          <a:p>
            <a:pPr>
              <a:defRPr sz="1500">
                <a:solidFill>
                  <a:srgbClr val="2D3748"/>
                </a:solidFill>
              </a:defRPr>
            </a:pPr>
            <a:r>
              <a:t>Volunteer overlay toggle for supply-demand visibility.</a:t>
            </a:r>
          </a:p>
          <a:p>
            <a:pPr>
              <a:defRPr sz="1500">
                <a:solidFill>
                  <a:srgbClr val="2D3748"/>
                </a:solidFill>
              </a:defRPr>
            </a:pPr>
            <a:r>
              <a:t>Underserved zone circles when volunteers &lt; 2 and intensity &gt; 0.6.</a:t>
            </a:r>
          </a:p>
          <a:p>
            <a:pPr>
              <a:defRPr sz="1500">
                <a:solidFill>
                  <a:srgbClr val="2D3748"/>
                </a:solidFill>
              </a:defRPr>
            </a:pPr>
            <a:r>
              <a:t>Time filtering: past 7 days vs past 30 days.</a:t>
            </a:r>
          </a:p>
          <a:p>
            <a:pPr>
              <a:defRPr sz="1500">
                <a:solidFill>
                  <a:srgbClr val="2D3748"/>
                </a:solidFill>
              </a:defRPr>
            </a:pPr>
            <a:r>
              <a:t>Zone detail panel shows ward, intensity, and volunteer count.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737360"/>
            <a:ext cx="62636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7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035040" y="2468880"/>
            <a:ext cx="237744" cy="23774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223760" y="2926080"/>
            <a:ext cx="237744" cy="237744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80" y="2377440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01200" y="3017520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0" y="2194560"/>
            <a:ext cx="237744" cy="23774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046720" y="4023360"/>
            <a:ext cx="237744" cy="237744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0" y="4480560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2240" y="4389120"/>
            <a:ext cx="237744" cy="23774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669280" y="5212080"/>
            <a:ext cx="1828800" cy="438912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t>4 Volunteers Active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"/>
            <a:ext cx="12191695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Smart Assignment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28016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1DEEA"/>
                </a:solidFill>
              </a:rPr>
              <a:t>Ranking logic implemented in volunteer_model.dart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3A5C"/>
                </a:solidFill>
              </a:defRPr>
            </a:pPr>
            <a:r>
              <a:t>Volunteer Recommendation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557784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D3748"/>
                </a:solidFill>
              </a:defRPr>
            </a:pPr>
            <a:r>
              <a:t>Eligible set: only volunteers with `availability == available`.</a:t>
            </a:r>
          </a:p>
          <a:p>
            <a:pPr>
              <a:defRPr sz="1500">
                <a:solidFill>
                  <a:srgbClr val="2D3748"/>
                </a:solidFill>
              </a:defRPr>
            </a:pPr>
            <a:r>
              <a:t>Score = (skill overlap * 0.6) + (distance score * 0.3) + (rating * 0.1).</a:t>
            </a:r>
          </a:p>
          <a:p>
            <a:pPr>
              <a:defRPr sz="1500">
                <a:solidFill>
                  <a:srgbClr val="2D3748"/>
                </a:solidFill>
              </a:defRPr>
            </a:pPr>
            <a:r>
              <a:t>Distance scoring caps at 20 km to avoid long-distance assignments.</a:t>
            </a:r>
          </a:p>
          <a:p>
            <a:pPr>
              <a:defRPr sz="1500">
                <a:solidFill>
                  <a:srgbClr val="2D3748"/>
                </a:solidFill>
              </a:defRPr>
            </a:pPr>
            <a:r>
              <a:t>UI supports smart-only view and full-volunteer manual override.</a:t>
            </a:r>
          </a:p>
          <a:p>
            <a:pPr>
              <a:defRPr sz="1500">
                <a:solidFill>
                  <a:srgbClr val="2D3748"/>
                </a:solidFill>
              </a:defRPr>
            </a:pPr>
            <a:r>
              <a:t>Best match highlight plus % match explanation improves trust in AI suggestion.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217920" y="1828800"/>
          <a:ext cx="548640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"/>
            <a:ext cx="12191695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Analytics &amp; 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28016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1DEEA"/>
                </a:solidFill>
              </a:rPr>
              <a:t>Charts sourced from analytics_screen.dart mock datasets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3A5C"/>
                </a:solidFill>
              </a:defRPr>
            </a:pPr>
            <a:r>
              <a:t>Performance Insights (This Month)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737360"/>
          <a:ext cx="6583680" cy="2834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406640" y="1737360"/>
          <a:ext cx="4297680" cy="2834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" y="4709160"/>
          <a:ext cx="11155680" cy="16459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"/>
            <a:ext cx="12191695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Projected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28016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1DEEA"/>
                </a:solidFill>
              </a:rPr>
              <a:t>How this system improves field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3A5C"/>
                </a:solidFill>
              </a:defRPr>
            </a:pPr>
            <a:r>
              <a:t>Expected Operational Gains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828800"/>
          <a:ext cx="658368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80960" y="1920240"/>
            <a:ext cx="4114800" cy="11430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2029968"/>
            <a:ext cx="3840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0B981"/>
                </a:solidFill>
              </a:defRPr>
            </a:pPr>
            <a:r>
              <a:t>~38% reduction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2487168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18196"/>
                </a:solidFill>
              </a:defRPr>
            </a:pPr>
            <a:r>
              <a:t>Faster Assignment Cycle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3246120"/>
            <a:ext cx="4114800" cy="11430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3355848"/>
            <a:ext cx="3840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B82F6"/>
                </a:solidFill>
              </a:defRPr>
            </a:pPr>
            <a:r>
              <a:t>5 -&gt; 2 zones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3813048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18196"/>
                </a:solidFill>
              </a:defRPr>
            </a:pPr>
            <a:r>
              <a:t>Underserved Zone Reduction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4572000"/>
            <a:ext cx="4114800" cy="11430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4681728"/>
            <a:ext cx="3840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6B6D4"/>
                </a:solidFill>
              </a:defRPr>
            </a:pPr>
            <a:r>
              <a:t>+22%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5138928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18196"/>
                </a:solidFill>
              </a:defRPr>
            </a:pPr>
            <a:r>
              <a:t>Volunteer Utilization Lift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"/>
            <a:ext cx="12191695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Execution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28016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1DEEA"/>
                </a:solidFill>
              </a:rPr>
              <a:t>Prototype -&gt; Pilot -&gt;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3A5C"/>
                </a:solidFill>
              </a:defRPr>
            </a:pPr>
            <a:r>
              <a:t>Build &amp; Rollout Plan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956816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96112" y="2121408"/>
            <a:ext cx="18288" cy="1005840"/>
          </a:xfrm>
          <a:prstGeom prst="rect">
            <a:avLst/>
          </a:prstGeom>
          <a:solidFill>
            <a:srgbClr val="CFD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43000" y="1737360"/>
            <a:ext cx="1051560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A3A5C"/>
                </a:solidFill>
              </a:defRPr>
            </a:pPr>
            <a:r>
              <a:t>Phase 1 (Now)</a:t>
            </a:r>
          </a:p>
          <a:p>
            <a:pPr>
              <a:defRPr sz="1100">
                <a:solidFill>
                  <a:srgbClr val="718196"/>
                </a:solidFill>
              </a:defRPr>
            </a:pPr>
            <a:r>
              <a:t>Frontend prototype complete</a:t>
            </a:r>
            <a:br/>
            <a:r>
              <a:t>Dashboard, assignments, heatmap, analytics UI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127247"/>
            <a:ext cx="164592" cy="16459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96112" y="3291839"/>
            <a:ext cx="18288" cy="1005840"/>
          </a:xfrm>
          <a:prstGeom prst="rect">
            <a:avLst/>
          </a:prstGeom>
          <a:solidFill>
            <a:srgbClr val="CFD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43000" y="2907791"/>
            <a:ext cx="1051560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A3A5C"/>
                </a:solidFill>
              </a:defRPr>
            </a:pPr>
            <a:r>
              <a:t>Phase 2</a:t>
            </a:r>
          </a:p>
          <a:p>
            <a:pPr>
              <a:defRPr sz="1100">
                <a:solidFill>
                  <a:srgbClr val="718196"/>
                </a:solidFill>
              </a:defRPr>
            </a:pPr>
            <a:r>
              <a:t>Backend APIs + auth + report ingestion pipeline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297680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96112" y="4462272"/>
            <a:ext cx="18288" cy="1005840"/>
          </a:xfrm>
          <a:prstGeom prst="rect">
            <a:avLst/>
          </a:prstGeom>
          <a:solidFill>
            <a:srgbClr val="CFD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143000" y="4078224"/>
            <a:ext cx="1051560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A3A5C"/>
                </a:solidFill>
              </a:defRPr>
            </a:pPr>
            <a:r>
              <a:t>Phase 3</a:t>
            </a:r>
          </a:p>
          <a:p>
            <a:pPr>
              <a:defRPr sz="1100">
                <a:solidFill>
                  <a:srgbClr val="718196"/>
                </a:solidFill>
              </a:defRPr>
            </a:pPr>
            <a:r>
              <a:t>Pilot in 2 districts with coordinator training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5468112"/>
            <a:ext cx="164592" cy="164592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43000" y="5248656"/>
            <a:ext cx="1051560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A3A5C"/>
                </a:solidFill>
              </a:defRPr>
            </a:pPr>
            <a:r>
              <a:t>Phase 4</a:t>
            </a:r>
          </a:p>
          <a:p>
            <a:pPr>
              <a:defRPr sz="1100">
                <a:solidFill>
                  <a:srgbClr val="718196"/>
                </a:solidFill>
              </a:defRPr>
            </a:pPr>
            <a:r>
              <a:t>Impact instrumentation + donor-grade reporting exports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"/>
            <a:ext cx="12191695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Technology &amp;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28016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1DEEA"/>
                </a:solidFill>
              </a:rPr>
              <a:t>Scalable and accountable by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3A5C"/>
                </a:solidFill>
              </a:defRPr>
            </a:pPr>
            <a:r>
              <a:t>Stack, Data, and Reliability Considerations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576072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D3748"/>
                </a:solidFill>
              </a:defRPr>
            </a:pPr>
            <a:r>
              <a:t>Frontend: Flutter web admin (`dashboard`, `tasks`, `assignments`, `analytics`, `heatmap`).</a:t>
            </a:r>
          </a:p>
          <a:p>
            <a:pPr>
              <a:defRPr sz="1500">
                <a:solidFill>
                  <a:srgbClr val="2D3748"/>
                </a:solidFill>
              </a:defRPr>
            </a:pPr>
            <a:r>
              <a:t>Visualization: `fl_chart` for KPI insights and trend charts.</a:t>
            </a:r>
          </a:p>
          <a:p>
            <a:pPr>
              <a:defRPr sz="1500">
                <a:solidFill>
                  <a:srgbClr val="2D3748"/>
                </a:solidFill>
              </a:defRPr>
            </a:pPr>
            <a:r>
              <a:t>Geo layer: `flutter_map` + OpenStreetMap tiles for locality-level context.</a:t>
            </a:r>
          </a:p>
          <a:p>
            <a:pPr>
              <a:defRPr sz="1500">
                <a:solidFill>
                  <a:srgbClr val="2D3748"/>
                </a:solidFill>
              </a:defRPr>
            </a:pPr>
            <a:r>
              <a:t>Data model supports full task lifecycle and assignment history logs.</a:t>
            </a:r>
          </a:p>
          <a:p>
            <a:pPr>
              <a:defRPr sz="1500">
                <a:solidFill>
                  <a:srgbClr val="2D3748"/>
                </a:solidFill>
              </a:defRPr>
            </a:pPr>
            <a:r>
              <a:t>Next: role-based access, audit logs, secure backend sync, and CSV/PDF exports.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920240"/>
            <a:ext cx="50292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A3A5C"/>
                </a:solidFill>
              </a:defRPr>
            </a:pPr>
            <a:r>
              <a:t>Security: coordinator roles + access control + audit history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3154680"/>
            <a:ext cx="50292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A3A5C"/>
                </a:solidFill>
              </a:defRPr>
            </a:pPr>
            <a:r>
              <a:t>Reliability: offline-safe reports + retryable assignment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4389120"/>
            <a:ext cx="50292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A3A5C"/>
                </a:solidFill>
              </a:defRPr>
            </a:pPr>
            <a:r>
              <a:t>Scalability: API-driven services + zone-level indexing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"/>
            <a:ext cx="12191695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Prototype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28016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1DEEA"/>
                </a:solidFill>
              </a:rPr>
              <a:t>Suggested live walkthrough sequence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3A5C"/>
                </a:solidFill>
              </a:defRPr>
            </a:pPr>
            <a:r>
              <a:t>Demo Flow for Judges / Stakeholders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10642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D3748"/>
                </a:solidFill>
              </a:defRPr>
            </a:pPr>
            <a:r>
              <a:t>1. Open dashboard: show volunteers, active tasks, pending needs, and coverage KPIs.</a:t>
            </a:r>
          </a:p>
          <a:p>
            <a:pPr>
              <a:defRPr sz="1500">
                <a:solidFill>
                  <a:srgbClr val="2D3748"/>
                </a:solidFill>
              </a:defRPr>
            </a:pPr>
            <a:r>
              <a:t>2. Switch to heatmap: highlight underserved circles and need-type toggles.</a:t>
            </a:r>
          </a:p>
          <a:p>
            <a:pPr>
              <a:defRPr sz="1500">
                <a:solidFill>
                  <a:srgbClr val="2D3748"/>
                </a:solidFill>
              </a:defRPr>
            </a:pPr>
            <a:r>
              <a:t>3. Open assignments: use smart match for a task and explain score breakdown.</a:t>
            </a:r>
          </a:p>
          <a:p>
            <a:pPr>
              <a:defRPr sz="1500">
                <a:solidFill>
                  <a:srgbClr val="2D3748"/>
                </a:solidFill>
              </a:defRPr>
            </a:pPr>
            <a:r>
              <a:t>4. Move task status through in-progress to verified and show timeline updates.</a:t>
            </a:r>
          </a:p>
          <a:p>
            <a:pPr>
              <a:defRPr sz="1500">
                <a:solidFill>
                  <a:srgbClr val="2D3748"/>
                </a:solidFill>
              </a:defRPr>
            </a:pPr>
            <a:r>
              <a:t>5. End in analytics: show monthly trend lines, category mix, and zone performance.</a:t>
            </a:r>
          </a:p>
          <a:p>
            <a:pPr>
              <a:defRPr sz="1500">
                <a:solidFill>
                  <a:srgbClr val="2D3748"/>
                </a:solidFill>
              </a:defRPr>
            </a:pPr>
            <a:r>
              <a:t>6. Close with impact story: faster response, better coverage, accountable execution.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